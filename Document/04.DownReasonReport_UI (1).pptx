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8013E-BFE2-1D4B-C213-C11613A9E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7FE5B37-4739-5F88-E56B-741196891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306239-0775-3E3F-1F7B-9B6CD556B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D5314-581F-4A98-8900-F389E81E835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1E4893-68FA-3756-F615-02B0A78FD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99A726-4B5B-88FF-13CC-940416FA8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B23E-5724-4647-8911-B84BB996C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141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3015DF-8669-1A18-8C2D-CB05319A2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570370-D1E7-2649-6471-C3DE9B8E3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403DAB-67A6-EFB3-1B6E-1756A78D3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D5314-581F-4A98-8900-F389E81E835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EAC8D4-1D0A-4BDE-0190-C1D56B19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5EADC3-B2A6-3F2D-DA0E-46B9946BE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B23E-5724-4647-8911-B84BB996C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815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61EDCC-CC4B-B0B6-24F1-60DA4B2EB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23E2B0-FA07-17C3-5916-6DBA28AC4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20C7E2-8C46-56BC-2845-82E93B746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D5314-581F-4A98-8900-F389E81E835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399E84-B9E9-891A-2D0E-05229C67F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EAE3F2-8244-B596-C6C2-39AAD72BC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B23E-5724-4647-8911-B84BB996C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36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B579A-146D-D85E-3B3A-F5F72540A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863C1D-70DA-7EAA-63D6-A0A01D0D0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A67EC5-D7AE-EF0F-1834-D511FE180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327B85-2DBE-CD5B-E625-1796734C3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D5314-581F-4A98-8900-F389E81E835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F2B287-F6CF-9CB8-EEFD-5DEC5881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30505D-FEF3-E9EB-1AB2-4E683C53C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B23E-5724-4647-8911-B84BB996C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759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256BB-9EDC-F02A-1C56-B13301E8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29451D-AE09-29F2-AB87-B4F1F5E18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0A467E-E9BB-F771-241B-7306CFDFE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858A3CC-2FF7-BCFF-11A2-937C20F6B9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211FDF2-B8A1-066B-3161-C17378FE4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249EEC3-3F3C-468C-69EB-17C425566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D5314-581F-4A98-8900-F389E81E835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D370F46-C7D3-8101-575A-BF2952437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D4C952-2DF2-8DE6-B91D-ACEA9EEE0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B23E-5724-4647-8911-B84BB996C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771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FF95CE-9923-1293-D456-FB0C61509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4C29D53-C44B-9BD3-4C13-834695BDC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D5314-581F-4A98-8900-F389E81E835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9DEF244-CD13-A109-0E15-761ADB4C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B066AD-F0EA-A7DC-411E-7BCC86A19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B23E-5724-4647-8911-B84BB996C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905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4BABFB-3624-4171-BB6F-82CF073AF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D5314-581F-4A98-8900-F389E81E835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83F38C-C5A5-29A3-9A62-4972C9F8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CD9417-7715-3C93-2884-7D9E9D193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B23E-5724-4647-8911-B84BB996C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834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7F4D77-6275-EEBB-E78B-EF918A09D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703242-D53D-E97A-DF41-E112EE518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645964-14A2-36BB-DD20-754F15E99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2BA4D4-6D33-78F3-0453-EFB7B72F9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D5314-581F-4A98-8900-F389E81E835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99C457-2BC6-A7B3-91A3-280C78599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EFF2D4-7BA2-D1A4-BA13-5D9E84467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B23E-5724-4647-8911-B84BB996C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758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7904F5-5245-430B-60B2-3F9C64394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8F23BDB-D548-C0DD-1B79-A61C3611A7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25CD5D-082A-D238-DC8B-CB1170E9D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FDFF6B-603F-DC07-4643-A9100D394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D5314-581F-4A98-8900-F389E81E835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A12A9F-F788-4E7F-E849-35F5799BD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AF0F35-3E6A-5CE6-D17D-8D05AC388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B23E-5724-4647-8911-B84BB996C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1F751-2D05-78AC-3A35-A8B3534DF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C266E3-4ACF-5AA6-83AD-FE43A45BF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0507AC-EA02-CA20-3D07-4479BD318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D5314-581F-4A98-8900-F389E81E835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4A6277-F2F2-3148-41EE-2A2E8A671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9D5AE5-7CC3-0025-D34C-D0396FFB2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B23E-5724-4647-8911-B84BB996C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02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6C24212-51FC-CC06-5072-D4FDB63EE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442755-3FEC-0914-0831-16C8FCE37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C53994-3F9E-98E3-4D6B-35B9F0E5D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D5314-581F-4A98-8900-F389E81E835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DC7A28-23E8-EC5D-396C-00A9C6F8A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2FEFA3-D526-81F3-3855-FD686B2C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B23E-5724-4647-8911-B84BB996C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152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3CB8363-0D64-4454-9BD7-47FB11F4F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509327-976E-C1CE-05D5-DB26382AA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C2CF8A-3750-2A7B-3231-56325926D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D5314-581F-4A98-8900-F389E81E835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FC0D5D-68A9-0DA5-BAE1-202880BDC2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79EF7A-6D2F-0541-5B5F-71B438852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AB23E-5724-4647-8911-B84BB996CE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323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4E92D29-4AB1-8911-DF55-428BBCE280C0}"/>
              </a:ext>
            </a:extLst>
          </p:cNvPr>
          <p:cNvSpPr/>
          <p:nvPr/>
        </p:nvSpPr>
        <p:spPr bwMode="auto">
          <a:xfrm>
            <a:off x="331299" y="303428"/>
            <a:ext cx="3579797" cy="358428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itchFamily="18" charset="0"/>
                <a:ea typeface="바탕" pitchFamily="18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itchFamily="18" charset="0"/>
                <a:ea typeface="바탕" pitchFamily="18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itchFamily="18" charset="0"/>
                <a:ea typeface="바탕" pitchFamily="18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itchFamily="18" charset="0"/>
                <a:ea typeface="바탕" pitchFamily="18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itchFamily="18" charset="0"/>
                <a:ea typeface="바탕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Times New Roman" pitchFamily="18" charset="0"/>
                <a:ea typeface="바탕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Times New Roman" pitchFamily="18" charset="0"/>
                <a:ea typeface="바탕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Times New Roman" pitchFamily="18" charset="0"/>
                <a:ea typeface="바탕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Times New Roman" pitchFamily="18" charset="0"/>
                <a:ea typeface="바탕" pitchFamily="18" charset="-127"/>
                <a:cs typeface="+mn-cs"/>
              </a:defRPr>
            </a:lvl9pPr>
          </a:lstStyle>
          <a:p>
            <a:pPr marL="171450" indent="-171450" algn="ctr" eaLnBrk="1" hangingPunct="1">
              <a:buFont typeface="Arial" panose="020B0604020202020204" pitchFamily="34" charset="0"/>
              <a:buChar char="•"/>
              <a:defRPr/>
            </a:pPr>
            <a:endParaRPr kumimoji="0"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A4F115C-D355-F940-A4DA-F615A5479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17" y="303428"/>
            <a:ext cx="3586778" cy="3031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algn="ctr">
            <a:solidFill>
              <a:srgbClr val="000000"/>
            </a:solidFill>
            <a:round/>
            <a:headEnd type="stealth" w="med" len="med"/>
            <a:tailEnd/>
          </a:ln>
        </p:spPr>
        <p:txBody>
          <a:bodyPr lIns="92075" tIns="46038" rIns="92075" bIns="46038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9pPr>
          </a:lstStyle>
          <a:p>
            <a:pPr algn="ctr" eaLnBrk="1" latinLnBrk="1" hangingPunct="1"/>
            <a:r>
              <a:rPr kumimoji="0"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Down Action Report!</a:t>
            </a:r>
            <a:endParaRPr kumimoji="0" lang="ko-KR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E837AB5-82EA-C636-5340-E49DA944A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02" y="1180070"/>
            <a:ext cx="1795238" cy="3031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algn="ctr">
            <a:solidFill>
              <a:srgbClr val="000000"/>
            </a:solidFill>
            <a:round/>
            <a:headEnd type="stealth" w="med" len="med"/>
            <a:tailEnd/>
          </a:ln>
        </p:spPr>
        <p:txBody>
          <a:bodyPr lIns="92075" tIns="46038" rIns="92075" bIns="46038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9pPr>
          </a:lstStyle>
          <a:p>
            <a:pPr algn="ctr" eaLnBrk="1" latinLnBrk="1" hangingPunct="1"/>
            <a:r>
              <a:rPr kumimoji="0"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OPERATOR ID</a:t>
            </a:r>
            <a:endParaRPr kumimoji="0" lang="ko-KR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0767FF-584E-51EC-C94D-EED71CADC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1197" y="1180070"/>
            <a:ext cx="1792585" cy="303154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stealth" w="med" len="med"/>
            <a:tailEnd/>
          </a:ln>
        </p:spPr>
        <p:txBody>
          <a:bodyPr lIns="92075" tIns="46038" rIns="92075" bIns="46038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9pPr>
          </a:lstStyle>
          <a:p>
            <a:pPr algn="ctr" eaLnBrk="1" latinLnBrk="1" hangingPunct="1"/>
            <a:r>
              <a:rPr kumimoji="0"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K22203001</a:t>
            </a:r>
            <a:endParaRPr kumimoji="0" lang="ko-KR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5BE368-B2EF-F1E0-CC35-0E4584963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17" y="1483224"/>
            <a:ext cx="1804320" cy="3031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algn="ctr">
            <a:solidFill>
              <a:srgbClr val="000000"/>
            </a:solidFill>
            <a:round/>
            <a:headEnd type="stealth" w="med" len="med"/>
            <a:tailEnd/>
          </a:ln>
        </p:spPr>
        <p:txBody>
          <a:bodyPr lIns="92075" tIns="46038" rIns="92075" bIns="46038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9pPr>
          </a:lstStyle>
          <a:p>
            <a:pPr algn="ctr" eaLnBrk="1" latinLnBrk="1" hangingPunct="1"/>
            <a:r>
              <a:rPr kumimoji="0"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Down Reason Category</a:t>
            </a:r>
            <a:endParaRPr kumimoji="0" lang="ko-KR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5CFF11C-7158-2659-ECDA-B52CE6444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8511" y="1483224"/>
            <a:ext cx="1792585" cy="303154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stealth" w="med" len="med"/>
            <a:tailEnd/>
          </a:ln>
        </p:spPr>
        <p:txBody>
          <a:bodyPr lIns="92075" tIns="46038" rIns="92075" bIns="46038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9pPr>
          </a:lstStyle>
          <a:p>
            <a:pPr algn="ctr" eaLnBrk="1" latinLnBrk="1" hangingPunct="1"/>
            <a:r>
              <a:rPr kumimoji="0"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Planned Down</a:t>
            </a:r>
            <a:endParaRPr kumimoji="0" lang="ko-KR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9843672-EB43-D217-1095-57FA31BE7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17" y="1786378"/>
            <a:ext cx="1804660" cy="3031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algn="ctr">
            <a:solidFill>
              <a:srgbClr val="000000"/>
            </a:solidFill>
            <a:round/>
            <a:headEnd type="stealth" w="med" len="med"/>
            <a:tailEnd/>
          </a:ln>
        </p:spPr>
        <p:txBody>
          <a:bodyPr lIns="92075" tIns="46038" rIns="92075" bIns="46038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9pPr>
          </a:lstStyle>
          <a:p>
            <a:pPr algn="ctr" eaLnBrk="1" latinLnBrk="1" hangingPunct="1"/>
            <a:r>
              <a:rPr kumimoji="0"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Down Reason</a:t>
            </a:r>
            <a:endParaRPr kumimoji="0" lang="ko-KR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682F238-F143-F189-14D8-0301E8C8E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8511" y="1786378"/>
            <a:ext cx="1792585" cy="303154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stealth" w="med" len="med"/>
            <a:tailEnd/>
          </a:ln>
        </p:spPr>
        <p:txBody>
          <a:bodyPr lIns="92075" tIns="46038" rIns="92075" bIns="46038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9pPr>
          </a:lstStyle>
          <a:p>
            <a:pPr algn="ctr" eaLnBrk="1" latinLnBrk="1" hangingPunct="1"/>
            <a:r>
              <a:rPr kumimoji="0"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Machine Cleaning</a:t>
            </a:r>
            <a:endParaRPr kumimoji="0" lang="ko-KR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F50B329-31F2-F4F3-4CB1-31EBE5AA3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687" y="2089532"/>
            <a:ext cx="1790891" cy="3031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algn="ctr">
            <a:solidFill>
              <a:srgbClr val="000000"/>
            </a:solidFill>
            <a:round/>
            <a:headEnd type="stealth" w="med" len="med"/>
            <a:tailEnd/>
          </a:ln>
        </p:spPr>
        <p:txBody>
          <a:bodyPr lIns="92075" tIns="46038" rIns="92075" bIns="46038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9pPr>
          </a:lstStyle>
          <a:p>
            <a:pPr algn="ctr" eaLnBrk="1" latinLnBrk="1" hangingPunct="1"/>
            <a:r>
              <a:rPr kumimoji="0"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Down Action</a:t>
            </a:r>
            <a:endParaRPr kumimoji="0" lang="ko-KR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C6C1B7-8488-2238-270F-1448B3A15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517" y="2089532"/>
            <a:ext cx="1792585" cy="303154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stealth" w="med" len="med"/>
            <a:tailEnd/>
          </a:ln>
        </p:spPr>
        <p:txBody>
          <a:bodyPr lIns="92075" tIns="46038" rIns="92075" bIns="46038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9pPr>
          </a:lstStyle>
          <a:p>
            <a:pPr algn="ctr" eaLnBrk="1" latinLnBrk="1" hangingPunct="1"/>
            <a:r>
              <a:rPr kumimoji="0"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Epoxy Nozzle Cleaning</a:t>
            </a:r>
            <a:endParaRPr kumimoji="0" lang="ko-KR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640256-E2B2-DE18-20E7-979CB98E9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17" y="2392685"/>
            <a:ext cx="1795642" cy="10598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algn="ctr">
            <a:solidFill>
              <a:srgbClr val="000000"/>
            </a:solidFill>
            <a:round/>
            <a:headEnd type="stealth" w="med" len="med"/>
            <a:tailEnd/>
          </a:ln>
        </p:spPr>
        <p:txBody>
          <a:bodyPr lIns="92075" tIns="46038" rIns="92075" bIns="46038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9pPr>
          </a:lstStyle>
          <a:p>
            <a:pPr algn="ctr" eaLnBrk="1" latinLnBrk="1" hangingPunct="1"/>
            <a:r>
              <a:rPr kumimoji="0"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Down Action Detail</a:t>
            </a:r>
            <a:endParaRPr kumimoji="0" lang="ko-KR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F29620-7D80-1EC3-2C21-7FF6EE10C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6898" y="2392686"/>
            <a:ext cx="1792585" cy="1059801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stealth" w="med" len="med"/>
            <a:tailEnd/>
          </a:ln>
        </p:spPr>
        <p:txBody>
          <a:bodyPr lIns="92075" tIns="46038" rIns="92075" bIns="46038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9pPr>
          </a:lstStyle>
          <a:p>
            <a:pPr algn="ctr" eaLnBrk="1" hangingPunct="1"/>
            <a:r>
              <a:rPr kumimoji="0"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Epoxy Nozzle Clogging </a:t>
            </a:r>
            <a:endParaRPr kumimoji="0" lang="ko-KR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63EF8B3-C588-9DA7-C548-1818998CF70C}"/>
              </a:ext>
            </a:extLst>
          </p:cNvPr>
          <p:cNvCxnSpPr>
            <a:cxnSpLocks/>
            <a:stCxn id="7" idx="3"/>
            <a:endCxn id="19" idx="1"/>
          </p:cNvCxnSpPr>
          <p:nvPr/>
        </p:nvCxnSpPr>
        <p:spPr>
          <a:xfrm flipV="1">
            <a:off x="3913782" y="1327023"/>
            <a:ext cx="1674889" cy="4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A4E7A39-3EFD-6CD1-A875-6F0456F41B2F}"/>
              </a:ext>
            </a:extLst>
          </p:cNvPr>
          <p:cNvSpPr txBox="1"/>
          <p:nvPr/>
        </p:nvSpPr>
        <p:spPr>
          <a:xfrm>
            <a:off x="5588671" y="1126968"/>
            <a:ext cx="5162757" cy="40011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작업자</a:t>
            </a:r>
            <a:r>
              <a:rPr lang="en-US" altLang="ko-KR" sz="1000" dirty="0"/>
              <a:t>ID (</a:t>
            </a:r>
            <a:r>
              <a:rPr lang="ko-KR" altLang="en-US" sz="1000" dirty="0"/>
              <a:t>사번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설비 조치를 완료한 작업자의 사번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5593AF-2518-D84E-185A-479CE992496E}"/>
              </a:ext>
            </a:extLst>
          </p:cNvPr>
          <p:cNvSpPr txBox="1"/>
          <p:nvPr/>
        </p:nvSpPr>
        <p:spPr>
          <a:xfrm>
            <a:off x="5588669" y="1727133"/>
            <a:ext cx="5162758" cy="40011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- MES</a:t>
            </a:r>
            <a:r>
              <a:rPr lang="ko-KR" altLang="en-US" sz="1000" dirty="0"/>
              <a:t>에서 전송하는 </a:t>
            </a:r>
            <a:r>
              <a:rPr lang="en-US" altLang="ko-KR" sz="1000" dirty="0"/>
              <a:t>SETCODE_DOWN_ACTION</a:t>
            </a:r>
            <a:r>
              <a:rPr lang="ko-KR" altLang="en-US" sz="1000" dirty="0"/>
              <a:t>에</a:t>
            </a:r>
            <a:r>
              <a:rPr lang="en-US" altLang="ko-KR" sz="1000" dirty="0"/>
              <a:t> </a:t>
            </a:r>
            <a:r>
              <a:rPr lang="ko-KR" altLang="en-US" sz="1000" dirty="0"/>
              <a:t>있는 항목 리스트 표시 및 선택 기능 </a:t>
            </a:r>
            <a:br>
              <a:rPr lang="en-US" altLang="ko-KR" sz="1000" dirty="0"/>
            </a:br>
            <a:r>
              <a:rPr lang="en-US" altLang="ko-KR" sz="1000" dirty="0"/>
              <a:t>- SETCODE</a:t>
            </a:r>
            <a:r>
              <a:rPr lang="ko-KR" altLang="en-US" sz="1000" dirty="0"/>
              <a:t>는 </a:t>
            </a:r>
            <a:r>
              <a:rPr lang="en-US" altLang="ko-KR" sz="1000" dirty="0"/>
              <a:t>MES </a:t>
            </a:r>
            <a:r>
              <a:rPr lang="ko-KR" altLang="en-US" sz="1000" dirty="0"/>
              <a:t>전송해주는 항목으로 변경이 가능하여야 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2E3D8-412E-E164-F5A5-35FAC5BD8B8F}"/>
              </a:ext>
            </a:extLst>
          </p:cNvPr>
          <p:cNvSpPr txBox="1"/>
          <p:nvPr/>
        </p:nvSpPr>
        <p:spPr>
          <a:xfrm>
            <a:off x="5588669" y="2322674"/>
            <a:ext cx="5162758" cy="55399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설비 </a:t>
            </a:r>
            <a:r>
              <a:rPr lang="en-US" altLang="ko-KR" sz="1000" dirty="0"/>
              <a:t>DOWN </a:t>
            </a:r>
            <a:r>
              <a:rPr lang="ko-KR" altLang="en-US" sz="1000" dirty="0"/>
              <a:t>원인</a:t>
            </a:r>
            <a:endParaRPr lang="en-US" altLang="ko-KR" sz="1000" dirty="0"/>
          </a:p>
          <a:p>
            <a:r>
              <a:rPr lang="en-US" altLang="ko-KR" sz="1000" dirty="0"/>
              <a:t>- ‘Down Reason</a:t>
            </a:r>
            <a:r>
              <a:rPr lang="ko-KR" altLang="en-US" sz="1000" dirty="0"/>
              <a:t> </a:t>
            </a:r>
            <a:r>
              <a:rPr lang="en-US" altLang="ko-KR" sz="1000" dirty="0"/>
              <a:t>Category’</a:t>
            </a:r>
            <a:r>
              <a:rPr lang="ko-KR" altLang="en-US" sz="1000" dirty="0"/>
              <a:t>에서 선택한 항목에 따라 리스트 변경 필요</a:t>
            </a:r>
            <a:endParaRPr lang="en-US" altLang="ko-KR" sz="1000" dirty="0"/>
          </a:p>
          <a:p>
            <a:r>
              <a:rPr lang="en-US" altLang="ko-KR" sz="1000" dirty="0"/>
              <a:t>- ‘Down Reason’</a:t>
            </a:r>
            <a:r>
              <a:rPr lang="ko-KR" altLang="en-US" sz="1000" dirty="0"/>
              <a:t>은 설비별로 개별 설정 가능하여야 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E6B478-F46F-3597-99D8-03103E7C33DA}"/>
              </a:ext>
            </a:extLst>
          </p:cNvPr>
          <p:cNvSpPr txBox="1"/>
          <p:nvPr/>
        </p:nvSpPr>
        <p:spPr>
          <a:xfrm>
            <a:off x="5588667" y="3072103"/>
            <a:ext cx="5162757" cy="55399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설비 </a:t>
            </a:r>
            <a:r>
              <a:rPr lang="en-US" altLang="ko-KR" sz="1000" dirty="0"/>
              <a:t>DOWN </a:t>
            </a:r>
            <a:r>
              <a:rPr lang="ko-KR" altLang="en-US" sz="1000" dirty="0"/>
              <a:t>조치</a:t>
            </a:r>
            <a:endParaRPr lang="en-US" altLang="ko-KR" sz="1000" dirty="0"/>
          </a:p>
          <a:p>
            <a:r>
              <a:rPr lang="en-US" altLang="ko-KR" sz="1000" dirty="0"/>
              <a:t>- ‘Down Reason’</a:t>
            </a:r>
            <a:r>
              <a:rPr lang="ko-KR" altLang="en-US" sz="1000" dirty="0"/>
              <a:t>에서 선택한 항목에 따라 리스트 변경 필요</a:t>
            </a:r>
            <a:endParaRPr lang="en-US" altLang="ko-KR" sz="1000" dirty="0"/>
          </a:p>
          <a:p>
            <a:r>
              <a:rPr lang="en-US" altLang="ko-KR" sz="1000" dirty="0"/>
              <a:t>- ‘Down Action’</a:t>
            </a:r>
            <a:r>
              <a:rPr lang="ko-KR" altLang="en-US" sz="1000" dirty="0"/>
              <a:t>은 설비별로 개별 설정 가능하여야 함</a:t>
            </a: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BF955A9F-38ED-3E4A-342E-FDB1A0784289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3911096" y="1634801"/>
            <a:ext cx="1677573" cy="292387"/>
          </a:xfrm>
          <a:prstGeom prst="bentConnector3">
            <a:avLst>
              <a:gd name="adj1" fmla="val 709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F884C5EE-E88F-44A9-D909-06800CC436F5}"/>
              </a:ext>
            </a:extLst>
          </p:cNvPr>
          <p:cNvCxnSpPr>
            <a:cxnSpLocks/>
            <a:stCxn id="11" idx="3"/>
            <a:endCxn id="3" idx="1"/>
          </p:cNvCxnSpPr>
          <p:nvPr/>
        </p:nvCxnSpPr>
        <p:spPr>
          <a:xfrm>
            <a:off x="3911096" y="1937955"/>
            <a:ext cx="1677573" cy="661718"/>
          </a:xfrm>
          <a:prstGeom prst="bentConnector3">
            <a:avLst>
              <a:gd name="adj1" fmla="val 619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481CFB96-7023-450D-06AE-46D8D6E88732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3910102" y="2241109"/>
            <a:ext cx="1678565" cy="1107993"/>
          </a:xfrm>
          <a:prstGeom prst="bentConnector3">
            <a:avLst>
              <a:gd name="adj1" fmla="val 503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6670377-A846-CB21-C19B-2F358677FE3F}"/>
              </a:ext>
            </a:extLst>
          </p:cNvPr>
          <p:cNvSpPr txBox="1"/>
          <p:nvPr/>
        </p:nvSpPr>
        <p:spPr>
          <a:xfrm>
            <a:off x="5588668" y="3821532"/>
            <a:ext cx="5162757" cy="40011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설비 </a:t>
            </a:r>
            <a:r>
              <a:rPr lang="en-US" altLang="ko-KR" sz="1000" dirty="0"/>
              <a:t>DOWN </a:t>
            </a:r>
            <a:r>
              <a:rPr lang="ko-KR" altLang="en-US" sz="1000" dirty="0"/>
              <a:t>조치 상세</a:t>
            </a:r>
            <a:endParaRPr lang="en-US" altLang="ko-KR" sz="1000" dirty="0"/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입력 가능 </a:t>
            </a:r>
            <a:r>
              <a:rPr lang="en-US" altLang="ko-KR" sz="1000" dirty="0"/>
              <a:t>Text </a:t>
            </a:r>
            <a:r>
              <a:rPr lang="ko-KR" altLang="en-US" sz="1000" dirty="0"/>
              <a:t>창</a:t>
            </a:r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671CD507-316F-2E23-8D00-72C15F201A9A}"/>
              </a:ext>
            </a:extLst>
          </p:cNvPr>
          <p:cNvCxnSpPr>
            <a:cxnSpLocks/>
            <a:stCxn id="15" idx="3"/>
            <a:endCxn id="37" idx="1"/>
          </p:cNvCxnSpPr>
          <p:nvPr/>
        </p:nvCxnSpPr>
        <p:spPr>
          <a:xfrm>
            <a:off x="3909483" y="2922587"/>
            <a:ext cx="1679185" cy="1099000"/>
          </a:xfrm>
          <a:prstGeom prst="bentConnector3">
            <a:avLst>
              <a:gd name="adj1" fmla="val 38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그래픽 66" descr="재생 단색으로 채워진">
            <a:extLst>
              <a:ext uri="{FF2B5EF4-FFF2-40B4-BE49-F238E27FC236}">
                <a16:creationId xmlns:a16="http://schemas.microsoft.com/office/drawing/2014/main" id="{99D78556-0C07-A241-C662-B5A7445DF3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3690810" y="1544041"/>
            <a:ext cx="171071" cy="171071"/>
          </a:xfrm>
          <a:prstGeom prst="rect">
            <a:avLst/>
          </a:prstGeom>
        </p:spPr>
      </p:pic>
      <p:pic>
        <p:nvPicPr>
          <p:cNvPr id="69" name="그래픽 68" descr="재생 단색으로 채워진">
            <a:extLst>
              <a:ext uri="{FF2B5EF4-FFF2-40B4-BE49-F238E27FC236}">
                <a16:creationId xmlns:a16="http://schemas.microsoft.com/office/drawing/2014/main" id="{95E4B453-1F50-C5F2-4A24-0DBB9AFD3F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3690809" y="2166340"/>
            <a:ext cx="171071" cy="171071"/>
          </a:xfrm>
          <a:prstGeom prst="rect">
            <a:avLst/>
          </a:prstGeom>
        </p:spPr>
      </p:pic>
      <p:pic>
        <p:nvPicPr>
          <p:cNvPr id="70" name="그래픽 69" descr="재생 단색으로 채워진">
            <a:extLst>
              <a:ext uri="{FF2B5EF4-FFF2-40B4-BE49-F238E27FC236}">
                <a16:creationId xmlns:a16="http://schemas.microsoft.com/office/drawing/2014/main" id="{0BA8918B-999B-D285-965A-D525FF203B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690809" y="1847195"/>
            <a:ext cx="171071" cy="171071"/>
          </a:xfrm>
          <a:prstGeom prst="rect">
            <a:avLst/>
          </a:prstGeom>
        </p:spPr>
      </p:pic>
      <p:sp>
        <p:nvSpPr>
          <p:cNvPr id="71" name="직사각형 70">
            <a:extLst>
              <a:ext uri="{FF2B5EF4-FFF2-40B4-BE49-F238E27FC236}">
                <a16:creationId xmlns:a16="http://schemas.microsoft.com/office/drawing/2014/main" id="{C7B92048-DBDD-4B6B-5601-B176BA274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687" y="607838"/>
            <a:ext cx="3579796" cy="5722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algn="ctr">
            <a:solidFill>
              <a:srgbClr val="000000"/>
            </a:solidFill>
            <a:round/>
            <a:headEnd type="stealth" w="med" len="med"/>
            <a:tailEnd/>
          </a:ln>
        </p:spPr>
        <p:txBody>
          <a:bodyPr lIns="92075" tIns="46038" rIns="92075" bIns="46038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+mn-cs"/>
              </a:defRPr>
            </a:lvl9pPr>
          </a:lstStyle>
          <a:p>
            <a:pPr algn="ctr" eaLnBrk="1" latinLnBrk="1" hangingPunct="1"/>
            <a:r>
              <a:rPr kumimoji="0"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TIME</a:t>
            </a:r>
            <a:r>
              <a:rPr kumimoji="0"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26/5/11 13:00:00</a:t>
            </a:r>
          </a:p>
          <a:p>
            <a:pPr algn="ctr" eaLnBrk="1" latinLnBrk="1" hangingPunct="1"/>
            <a:r>
              <a:rPr kumimoji="0"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ALARM ID : 1001</a:t>
            </a:r>
          </a:p>
          <a:p>
            <a:pPr algn="ctr" eaLnBrk="1" latinLnBrk="1" hangingPunct="1"/>
            <a:r>
              <a:rPr kumimoji="0"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ALARM </a:t>
            </a:r>
            <a:r>
              <a:rPr kumimoji="0" lang="en-US" altLang="ko-KR" sz="8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Categroy</a:t>
            </a:r>
            <a:r>
              <a:rPr kumimoji="0"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010101</a:t>
            </a:r>
          </a:p>
          <a:p>
            <a:pPr algn="ctr" eaLnBrk="1" latinLnBrk="1" hangingPunct="1"/>
            <a:r>
              <a:rPr kumimoji="0"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ALARM TEXT : Nozzle Dust </a:t>
            </a:r>
            <a:r>
              <a:rPr kumimoji="0" lang="en-US" altLang="ko-KR" sz="8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Creat</a:t>
            </a:r>
            <a:endParaRPr kumimoji="0" lang="ko-KR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A0CC30-4744-C0B6-68D9-853C4044BDDB}"/>
              </a:ext>
            </a:extLst>
          </p:cNvPr>
          <p:cNvSpPr txBox="1"/>
          <p:nvPr/>
        </p:nvSpPr>
        <p:spPr>
          <a:xfrm>
            <a:off x="5588667" y="259308"/>
            <a:ext cx="5162757" cy="7078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Alarm Info</a:t>
            </a:r>
          </a:p>
          <a:p>
            <a:r>
              <a:rPr lang="en-US" altLang="ko-KR" sz="1000" dirty="0"/>
              <a:t> - </a:t>
            </a:r>
            <a:r>
              <a:rPr lang="ko-KR" altLang="en-US" sz="1000" dirty="0"/>
              <a:t>발생한 </a:t>
            </a:r>
            <a:r>
              <a:rPr lang="en-US" altLang="ko-KR" sz="1000" dirty="0"/>
              <a:t>Alarm</a:t>
            </a:r>
            <a:r>
              <a:rPr lang="ko-KR" altLang="en-US" sz="1000" dirty="0"/>
              <a:t>에 대한 정보</a:t>
            </a:r>
            <a:endParaRPr lang="en-US" altLang="ko-KR" sz="1000" dirty="0"/>
          </a:p>
          <a:p>
            <a:r>
              <a:rPr lang="en-US" altLang="ko-KR" sz="1000" dirty="0"/>
              <a:t> - TIME : Alarm </a:t>
            </a:r>
            <a:r>
              <a:rPr lang="ko-KR" altLang="en-US" sz="1000" dirty="0"/>
              <a:t>발생 시간</a:t>
            </a:r>
            <a:endParaRPr lang="en-US" altLang="ko-KR" sz="1000" dirty="0"/>
          </a:p>
          <a:p>
            <a:r>
              <a:rPr lang="en-US" altLang="ko-KR" sz="1000" dirty="0"/>
              <a:t> - ALARM ID : </a:t>
            </a:r>
            <a:r>
              <a:rPr lang="ko-KR" altLang="en-US" sz="1000" dirty="0"/>
              <a:t>알람 </a:t>
            </a:r>
            <a:r>
              <a:rPr lang="en-US" altLang="ko-KR" sz="1000" dirty="0"/>
              <a:t>ID / ALARM Category : </a:t>
            </a:r>
            <a:r>
              <a:rPr lang="ko-KR" altLang="en-US" sz="1000" dirty="0"/>
              <a:t>알람 </a:t>
            </a:r>
            <a:r>
              <a:rPr lang="en-US" altLang="ko-KR" sz="1000" dirty="0"/>
              <a:t>Category / ALARM TEXT : </a:t>
            </a:r>
            <a:r>
              <a:rPr lang="ko-KR" altLang="en-US" sz="1000" dirty="0" err="1"/>
              <a:t>알람명</a:t>
            </a:r>
            <a:endParaRPr lang="en-US" altLang="ko-KR" sz="1000" dirty="0"/>
          </a:p>
        </p:txBody>
      </p: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92911A97-0042-5BCB-9411-4615CB2A3C9C}"/>
              </a:ext>
            </a:extLst>
          </p:cNvPr>
          <p:cNvCxnSpPr>
            <a:stCxn id="71" idx="3"/>
            <a:endCxn id="73" idx="1"/>
          </p:cNvCxnSpPr>
          <p:nvPr/>
        </p:nvCxnSpPr>
        <p:spPr>
          <a:xfrm flipV="1">
            <a:off x="3909483" y="613251"/>
            <a:ext cx="1679184" cy="2807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26EBCA6A-CDAA-C312-C439-AFF3E4A23859}"/>
              </a:ext>
            </a:extLst>
          </p:cNvPr>
          <p:cNvSpPr txBox="1"/>
          <p:nvPr/>
        </p:nvSpPr>
        <p:spPr>
          <a:xfrm>
            <a:off x="331299" y="4898710"/>
            <a:ext cx="10420125" cy="116955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000" dirty="0"/>
              <a:t>상기 </a:t>
            </a:r>
            <a:r>
              <a:rPr lang="en-US" altLang="ko-KR" sz="1000" dirty="0"/>
              <a:t>‘Down Action Report’ </a:t>
            </a:r>
            <a:r>
              <a:rPr lang="ko-KR" altLang="en-US" sz="1000" dirty="0"/>
              <a:t>창은 강제 종료가 불가능</a:t>
            </a:r>
            <a:endParaRPr lang="en-US" altLang="ko-KR" sz="1000" dirty="0"/>
          </a:p>
          <a:p>
            <a:pPr marL="228600" indent="-228600">
              <a:buAutoNum type="arabicPeriod"/>
            </a:pPr>
            <a:r>
              <a:rPr lang="ko-KR" altLang="en-US" sz="1000" dirty="0"/>
              <a:t>상기 창은 최소화 기능을 지원하지 않아야 함</a:t>
            </a:r>
            <a:endParaRPr lang="en-US" altLang="ko-KR" sz="1000" dirty="0"/>
          </a:p>
          <a:p>
            <a:pPr marL="228600" indent="-228600">
              <a:buAutoNum type="arabicPeriod"/>
            </a:pPr>
            <a:r>
              <a:rPr lang="ko-KR" altLang="en-US" sz="1000" dirty="0"/>
              <a:t>상기 창은 확인 버튼을 클릭하였을 때</a:t>
            </a:r>
            <a:r>
              <a:rPr lang="en-US" altLang="ko-KR" sz="1000" dirty="0"/>
              <a:t>, OPERATOR ID, Down Reason Category, Down Reason, Down Action</a:t>
            </a:r>
            <a:r>
              <a:rPr lang="ko-KR" altLang="en-US" sz="1000" dirty="0"/>
              <a:t>이 모두 데이터가 입력 되어 있어야 동작이 되어야 함</a:t>
            </a:r>
            <a:br>
              <a:rPr lang="en-US" altLang="ko-KR" sz="1000" dirty="0"/>
            </a:br>
            <a:r>
              <a:rPr lang="ko-KR" altLang="en-US" sz="1000" dirty="0"/>
              <a:t>하나라도 입력이 되지 않았을 경우 비어 있는 항목이 무엇인지 사용자에게 표시 되어야 함</a:t>
            </a:r>
            <a:endParaRPr lang="en-US" altLang="ko-KR" sz="1000" dirty="0"/>
          </a:p>
          <a:p>
            <a:pPr marL="228600" indent="-228600">
              <a:buAutoNum type="arabicPeriod"/>
            </a:pPr>
            <a:r>
              <a:rPr lang="en-US" altLang="ko-KR" sz="1000" dirty="0"/>
              <a:t>‘Down Action’</a:t>
            </a:r>
            <a:r>
              <a:rPr lang="ko-KR" altLang="en-US" sz="1000" dirty="0"/>
              <a:t>이 </a:t>
            </a:r>
            <a:r>
              <a:rPr lang="en-US" altLang="ko-KR" sz="1000" dirty="0"/>
              <a:t>ETC</a:t>
            </a:r>
            <a:r>
              <a:rPr lang="ko-KR" altLang="en-US" sz="1000" dirty="0"/>
              <a:t>이고 </a:t>
            </a:r>
            <a:r>
              <a:rPr lang="en-US" altLang="ko-KR" sz="1000" dirty="0"/>
              <a:t>Down Action Detail</a:t>
            </a:r>
            <a:r>
              <a:rPr lang="ko-KR" altLang="en-US" sz="1000" dirty="0"/>
              <a:t>의 내용은 필수로 내용이 입력 되어있어야 함</a:t>
            </a:r>
            <a:br>
              <a:rPr lang="en-US" altLang="ko-KR" sz="1000" dirty="0"/>
            </a:br>
            <a:r>
              <a:rPr lang="ko-KR" altLang="en-US" sz="1000" dirty="0"/>
              <a:t>만약 내용이 없다면 확인 버튼은 동작이 되지 않고 해당 항목이 </a:t>
            </a:r>
            <a:r>
              <a:rPr lang="ko-KR" altLang="en-US" sz="1000" dirty="0" err="1"/>
              <a:t>비어있음을</a:t>
            </a:r>
            <a:r>
              <a:rPr lang="ko-KR" altLang="en-US" sz="1000" dirty="0"/>
              <a:t> 사용자에게 표시되어야 함</a:t>
            </a:r>
            <a:endParaRPr lang="en-US" altLang="ko-KR" sz="1000" dirty="0"/>
          </a:p>
          <a:p>
            <a:pPr marL="228600" indent="-228600">
              <a:buAutoNum type="arabicPeriod"/>
            </a:pPr>
            <a:r>
              <a:rPr lang="ko-KR" altLang="en-US" sz="1000" dirty="0"/>
              <a:t>해당 창은 요구하는 기능이 모두 구현이 </a:t>
            </a:r>
            <a:r>
              <a:rPr lang="ko-KR" altLang="en-US" sz="1000" dirty="0" err="1"/>
              <a:t>되어야하며</a:t>
            </a:r>
            <a:r>
              <a:rPr lang="ko-KR" altLang="en-US" sz="1000" dirty="0"/>
              <a:t> 상기 하면의 디자인은 설명을 위한 예시임을 명시함</a:t>
            </a:r>
          </a:p>
        </p:txBody>
      </p:sp>
      <p:sp>
        <p:nvSpPr>
          <p:cNvPr id="85" name="사각형: 빗면 84">
            <a:extLst>
              <a:ext uri="{FF2B5EF4-FFF2-40B4-BE49-F238E27FC236}">
                <a16:creationId xmlns:a16="http://schemas.microsoft.com/office/drawing/2014/main" id="{390C6C50-475D-3802-440B-8C5DFF74D273}"/>
              </a:ext>
            </a:extLst>
          </p:cNvPr>
          <p:cNvSpPr/>
          <p:nvPr/>
        </p:nvSpPr>
        <p:spPr>
          <a:xfrm>
            <a:off x="2525197" y="3524376"/>
            <a:ext cx="1336683" cy="297156"/>
          </a:xfrm>
          <a:prstGeom prst="bevel">
            <a:avLst>
              <a:gd name="adj" fmla="val 16576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확인</a:t>
            </a:r>
          </a:p>
        </p:txBody>
      </p:sp>
    </p:spTree>
    <p:extLst>
      <p:ext uri="{BB962C8B-B14F-4D97-AF65-F5344CB8AC3E}">
        <p14:creationId xmlns:p14="http://schemas.microsoft.com/office/powerpoint/2010/main" val="1409372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285</Words>
  <Application>Microsoft Office PowerPoint</Application>
  <PresentationFormat>와이드스크린</PresentationFormat>
  <Paragraphs>36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오현학</dc:creator>
  <cp:lastModifiedBy>오현학</cp:lastModifiedBy>
  <cp:revision>6</cp:revision>
  <dcterms:created xsi:type="dcterms:W3CDTF">2026-05-08T06:20:30Z</dcterms:created>
  <dcterms:modified xsi:type="dcterms:W3CDTF">2026-05-11T07:35:29Z</dcterms:modified>
</cp:coreProperties>
</file>